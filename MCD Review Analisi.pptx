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07" d="32"/>
          <a:sy n="115" d="32"/>
        </p:scale>
        <p:origin x="97" y="108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524761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8058099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619590" name="Google Shape;248;ged3401ed36_1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628598" name="Google Shape;249;ged3401ed36_1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4DBDD7-9B14-A41D-B2C5-CD9562EA5F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C44B74-725E-ECD6-4BA6-2D0033F3A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3EEC3C-48FA-4377-557E-2F42261086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77949" name="Google Shape;261;ge1d838b627_0_2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407799" name="Google Shape;262;ge1d838b627_0_2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05726D-24F9-A894-142A-5D0AE655C0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624667-5C97-9258-C45F-D4870E103C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762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5553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096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9A7937-F7F6-ED6B-1B4E-5DD8DAB4B8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421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9447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76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8F04-77B0-5044-D924-05B7763073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7BF230-3172-F9F4-6002-712731A209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44F32F-9408-CD2D-9D21-06F193E4C9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8744117" name="Google Shape;9;p2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10" name="Google Shape;10;p2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12" name="Google Shape;12;p2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52464522" name="Google Shape;15;p2"/>
          <p:cNvSpPr txBox="1"/>
          <p:nvPr>
            <p:ph type="ctrTitle"/>
          </p:nvPr>
        </p:nvSpPr>
        <p:spPr bwMode="auto">
          <a:xfrm>
            <a:off x="228600" y="1854000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45773746" name="Google Shape;16;p2"/>
          <p:cNvSpPr txBox="1"/>
          <p:nvPr>
            <p:ph type="subTitle" idx="1"/>
          </p:nvPr>
        </p:nvSpPr>
        <p:spPr bwMode="auto">
          <a:xfrm>
            <a:off x="228600" y="4483800"/>
            <a:ext cx="3789000" cy="43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6312665" name="Google Shape;17;p2"/>
          <p:cNvSpPr/>
          <p:nvPr>
            <p:ph type="pic" idx="2"/>
          </p:nvPr>
        </p:nvSpPr>
        <p:spPr bwMode="auto">
          <a:xfrm>
            <a:off x="6341100" y="1006750"/>
            <a:ext cx="2574000" cy="3908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88139502" name="Google Shape;29;p4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30" name="Google Shape;30;p4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31" name="Google Shape;31;p4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32" name="Google Shape;32;p4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855677962" name="Google Shape;35;p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endParaRPr/>
          </a:p>
        </p:txBody>
      </p:sp>
      <p:sp>
        <p:nvSpPr>
          <p:cNvPr id="420256973" name="Google Shape;36;p4"/>
          <p:cNvSpPr txBox="1"/>
          <p:nvPr>
            <p:ph type="body" idx="1"/>
          </p:nvPr>
        </p:nvSpPr>
        <p:spPr bwMode="auto"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18335831" name="Google Shape;38;p5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39" name="Google Shape;39;p5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40" name="Google Shape;40;p5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41" name="Google Shape;41;p5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42" name="Google Shape;42;p5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43" name="Google Shape;43;p5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606284838" name="Google Shape;44;p5"/>
          <p:cNvSpPr txBox="1"/>
          <p:nvPr>
            <p:ph type="subTitle" idx="1"/>
          </p:nvPr>
        </p:nvSpPr>
        <p:spPr bwMode="auto">
          <a:xfrm>
            <a:off x="228603" y="1637325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87627483" name="Google Shape;45;p5"/>
          <p:cNvSpPr txBox="1"/>
          <p:nvPr>
            <p:ph type="subTitle" idx="2"/>
          </p:nvPr>
        </p:nvSpPr>
        <p:spPr bwMode="auto">
          <a:xfrm>
            <a:off x="228603" y="2985076"/>
            <a:ext cx="394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5377709" name="Google Shape;46;p5"/>
          <p:cNvSpPr txBox="1"/>
          <p:nvPr>
            <p:ph type="subTitle" idx="3"/>
          </p:nvPr>
        </p:nvSpPr>
        <p:spPr bwMode="auto">
          <a:xfrm>
            <a:off x="228603" y="1992223"/>
            <a:ext cx="3941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0104537" name="Google Shape;47;p5"/>
          <p:cNvSpPr txBox="1"/>
          <p:nvPr>
            <p:ph type="subTitle" idx="4"/>
          </p:nvPr>
        </p:nvSpPr>
        <p:spPr bwMode="auto">
          <a:xfrm>
            <a:off x="228603" y="3339975"/>
            <a:ext cx="3941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0724410" name="Google Shape;48;p5"/>
          <p:cNvSpPr txBox="1"/>
          <p:nvPr>
            <p:ph type="title"/>
          </p:nvPr>
        </p:nvSpPr>
        <p:spPr bwMode="auto"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2517879" name="Google Shape;49;p5"/>
          <p:cNvSpPr/>
          <p:nvPr>
            <p:ph type="pic" idx="5"/>
          </p:nvPr>
        </p:nvSpPr>
        <p:spPr bwMode="auto">
          <a:xfrm>
            <a:off x="5319600" y="1350900"/>
            <a:ext cx="3595500" cy="356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1303498" name="Google Shape;51;p6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52" name="Google Shape;52;p6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53" name="Google Shape;53;p6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54" name="Google Shape;54;p6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55" name="Google Shape;55;p6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56" name="Google Shape;56;p6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82079807" name="Google Shape;57;p6"/>
          <p:cNvSpPr txBox="1"/>
          <p:nvPr>
            <p:ph type="title"/>
          </p:nvPr>
        </p:nvSpPr>
        <p:spPr bwMode="auto"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0579209" name="Google Shape;59;p7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60" name="Google Shape;60;p7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61" name="Google Shape;61;p7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62" name="Google Shape;62;p7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794848370" name="Google Shape;65;p7"/>
          <p:cNvSpPr txBox="1"/>
          <p:nvPr>
            <p:ph type="title"/>
          </p:nvPr>
        </p:nvSpPr>
        <p:spPr bwMode="auto"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834622" name="Google Shape;66;p7"/>
          <p:cNvSpPr txBox="1"/>
          <p:nvPr>
            <p:ph type="body" idx="1"/>
          </p:nvPr>
        </p:nvSpPr>
        <p:spPr bwMode="auto"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1671600" name="Google Shape;67;p7"/>
          <p:cNvSpPr/>
          <p:nvPr>
            <p:ph type="pic" idx="2"/>
          </p:nvPr>
        </p:nvSpPr>
        <p:spPr bwMode="auto"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12341198" name="Google Shape;69;p8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0" name="Google Shape;70;p8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71" name="Google Shape;71;p8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72" name="Google Shape;72;p8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299089711" name="Google Shape;75;p8"/>
          <p:cNvSpPr txBox="1"/>
          <p:nvPr>
            <p:ph type="title"/>
          </p:nvPr>
        </p:nvSpPr>
        <p:spPr bwMode="auto">
          <a:xfrm>
            <a:off x="1388099" y="1307099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0723632" name="Google Shape;77;p9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78" name="Google Shape;78;p9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79" name="Google Shape;79;p9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80" name="Google Shape;80;p9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81" name="Google Shape;81;p9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82" name="Google Shape;82;p9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274778727" name="Google Shape;83;p9"/>
          <p:cNvSpPr txBox="1"/>
          <p:nvPr>
            <p:ph type="subTitle" idx="1"/>
          </p:nvPr>
        </p:nvSpPr>
        <p:spPr bwMode="auto"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6379048" name="Google Shape;84;p9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457228" name="Google Shape;85;p9"/>
          <p:cNvSpPr txBox="1"/>
          <p:nvPr>
            <p:ph type="subTitle" idx="2"/>
          </p:nvPr>
        </p:nvSpPr>
        <p:spPr bwMode="auto"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60964151" name="Google Shape;90;p11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91" name="Google Shape;91;p11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92" name="Google Shape;92;p11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93" name="Google Shape;93;p11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94" name="Google Shape;94;p11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95" name="Google Shape;95;p11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  <p:sp>
        <p:nvSpPr>
          <p:cNvPr id="1884574433" name="Google Shape;96;p11"/>
          <p:cNvSpPr txBox="1"/>
          <p:nvPr>
            <p:ph type="title" hasCustomPrompt="1"/>
          </p:nvPr>
        </p:nvSpPr>
        <p:spPr bwMode="auto">
          <a:xfrm>
            <a:off x="1284000" y="1952849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909516721" name="Google Shape;97;p11"/>
          <p:cNvSpPr txBox="1"/>
          <p:nvPr>
            <p:ph type="subTitle" idx="1"/>
          </p:nvPr>
        </p:nvSpPr>
        <p:spPr bwMode="auto"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BLANK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74294023" name="Google Shape;223;p22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24" name="Google Shape;224;p22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225" name="Google Shape;225;p22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26" name="Google Shape;226;p22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227" name="Google Shape;227;p22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228" name="Google Shape;228;p22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BLANK_1_1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5639753" name="Google Shape;230;p23"/>
          <p:cNvGrpSpPr/>
          <p:nvPr/>
        </p:nvGrpSpPr>
        <p:grpSpPr bwMode="auto">
          <a:xfrm>
            <a:off x="100" y="0"/>
            <a:ext cx="9144000" cy="228600"/>
            <a:chOff x="100" y="0"/>
            <a:chExt cx="9144000" cy="228600"/>
          </a:xfrm>
        </p:grpSpPr>
        <p:sp>
          <p:nvSpPr>
            <p:cNvPr id="231" name="Google Shape;231;p23"/>
            <p:cNvSpPr/>
            <p:nvPr/>
          </p:nvSpPr>
          <p:spPr bwMode="auto">
            <a:xfrm>
              <a:off x="100" y="0"/>
              <a:ext cx="9144000" cy="228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>
                <a:latin typeface="Roboto"/>
                <a:ea typeface="Roboto"/>
                <a:cs typeface="Roboto"/>
              </a:endParaRPr>
            </a:p>
          </p:txBody>
        </p:sp>
        <p:grpSp>
          <p:nvGrpSpPr>
            <p:cNvPr id="232" name="Google Shape;232;p23"/>
            <p:cNvGrpSpPr/>
            <p:nvPr/>
          </p:nvGrpSpPr>
          <p:grpSpPr bwMode="auto">
            <a:xfrm>
              <a:off x="228600" y="75300"/>
              <a:ext cx="339251" cy="78000"/>
              <a:chOff x="228600" y="75300"/>
              <a:chExt cx="339251" cy="78000"/>
            </a:xfrm>
          </p:grpSpPr>
          <p:sp>
            <p:nvSpPr>
              <p:cNvPr id="233" name="Google Shape;233;p23"/>
              <p:cNvSpPr/>
              <p:nvPr/>
            </p:nvSpPr>
            <p:spPr bwMode="auto">
              <a:xfrm>
                <a:off x="228600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234" name="Google Shape;234;p23"/>
              <p:cNvSpPr/>
              <p:nvPr/>
            </p:nvSpPr>
            <p:spPr bwMode="auto">
              <a:xfrm>
                <a:off x="359226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235" name="Google Shape;235;p23"/>
              <p:cNvSpPr/>
              <p:nvPr/>
            </p:nvSpPr>
            <p:spPr bwMode="auto">
              <a:xfrm>
                <a:off x="489851" y="75300"/>
                <a:ext cx="78000" cy="7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32550" tIns="32550" rIns="32550" bIns="32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500">
                  <a:latin typeface="Lato"/>
                  <a:ea typeface="Lato"/>
                  <a:cs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356875" name="Google Shape;6;p1"/>
          <p:cNvSpPr txBox="1"/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  <a:defRPr sz="26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54166273" name="Google Shape;7;p1"/>
          <p:cNvSpPr txBox="1"/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939119" name="Google Shape;251;p28"/>
          <p:cNvSpPr txBox="1"/>
          <p:nvPr>
            <p:ph type="subTitle" idx="1"/>
          </p:nvPr>
        </p:nvSpPr>
        <p:spPr bwMode="auto">
          <a:xfrm>
            <a:off x="228600" y="4483800"/>
            <a:ext cx="3789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1604076005" name="Google Shape;252;p28"/>
          <p:cNvSpPr txBox="1"/>
          <p:nvPr>
            <p:ph type="ctrTitle"/>
          </p:nvPr>
        </p:nvSpPr>
        <p:spPr bwMode="auto">
          <a:xfrm>
            <a:off x="466724" y="1645560"/>
            <a:ext cx="52578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defRPr/>
            </a:pPr>
            <a:r>
              <a:rPr lang="en"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Classifying &amp; Summarizing </a:t>
            </a:r>
            <a:endParaRPr sz="3600" b="1" i="0" u="none" strike="noStrike" cap="none" spc="0">
              <a:solidFill>
                <a:schemeClr val="dk1"/>
              </a:solidFill>
              <a:latin typeface="Space Grotesk"/>
              <a:cs typeface="Space Grotesk"/>
            </a:endParaRPr>
          </a:p>
          <a:p>
            <a:pPr>
              <a:defRPr/>
            </a:pPr>
            <a:r>
              <a:rPr lang="en"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McDonald’s Store Review</a:t>
            </a:r>
            <a:endParaRPr sz="3600" b="1" i="0" u="none" strike="noStrike" cap="none" spc="0">
              <a:solidFill>
                <a:schemeClr val="dk1"/>
              </a:solidFill>
              <a:latin typeface="Space Grotesk"/>
              <a:cs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Using IBM Granite</a:t>
            </a:r>
            <a:endParaRPr sz="3600"/>
          </a:p>
        </p:txBody>
      </p:sp>
      <p:cxnSp>
        <p:nvCxnSpPr>
          <p:cNvPr id="1526653419" name="Google Shape;253;p28"/>
          <p:cNvCxnSpPr/>
          <p:nvPr/>
        </p:nvCxnSpPr>
        <p:spPr bwMode="auto">
          <a:xfrm>
            <a:off x="0" y="457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2642052" name="Google Shape;254;p28" title="woman-with-glowing-blue-face.jpg"/>
          <p:cNvPicPr/>
          <p:nvPr>
            <p:ph type="pic" idx="2"/>
          </p:nvPr>
        </p:nvPicPr>
        <p:blipFill>
          <a:blip r:embed="rId3"/>
          <a:stretch/>
        </p:blipFill>
        <p:spPr bwMode="auto">
          <a:xfrm flipH="0" flipV="0">
            <a:off x="5849666" y="1483178"/>
            <a:ext cx="2574147" cy="2177142"/>
          </a:xfrm>
          <a:prstGeom prst="rect">
            <a:avLst/>
          </a:prstGeom>
        </p:spPr>
      </p:pic>
      <p:grpSp>
        <p:nvGrpSpPr>
          <p:cNvPr id="1739013414" name="Google Shape;255;p28"/>
          <p:cNvGrpSpPr/>
          <p:nvPr/>
        </p:nvGrpSpPr>
        <p:grpSpPr bwMode="auto">
          <a:xfrm>
            <a:off x="228598" y="281400"/>
            <a:ext cx="8686803" cy="123000"/>
            <a:chOff x="228598" y="281400"/>
            <a:chExt cx="8686803" cy="123000"/>
          </a:xfrm>
        </p:grpSpPr>
        <p:sp>
          <p:nvSpPr>
            <p:cNvPr id="256" name="Google Shape;256;p28"/>
            <p:cNvSpPr txBox="1"/>
            <p:nvPr/>
          </p:nvSpPr>
          <p:spPr bwMode="auto">
            <a:xfrm>
              <a:off x="4071900" y="281400"/>
              <a:ext cx="10002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</a:rPr>
                <a:t>Capstone Project</a:t>
              </a:r>
              <a:endParaRPr sz="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endParaRPr>
            </a:p>
          </p:txBody>
        </p:sp>
        <p:sp>
          <p:nvSpPr>
            <p:cNvPr id="257" name="Google Shape;257;p28"/>
            <p:cNvSpPr txBox="1"/>
            <p:nvPr/>
          </p:nvSpPr>
          <p:spPr bwMode="auto">
            <a:xfrm>
              <a:off x="7863602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</a:rPr>
                <a:t>3 November 2025</a:t>
              </a:r>
              <a:endParaRPr sz="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endParaRPr>
            </a:p>
          </p:txBody>
        </p:sp>
        <p:sp>
          <p:nvSpPr>
            <p:cNvPr id="258" name="Google Shape;258;p28"/>
            <p:cNvSpPr txBox="1"/>
            <p:nvPr/>
          </p:nvSpPr>
          <p:spPr bwMode="auto">
            <a:xfrm>
              <a:off x="228598" y="281400"/>
              <a:ext cx="10518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" b="1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</a:rPr>
                <a:t>RAMADHAN</a:t>
              </a:r>
              <a:endParaRPr sz="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endParaRPr>
            </a:p>
          </p:txBody>
        </p:sp>
      </p:grpSp>
      <p:sp>
        <p:nvSpPr>
          <p:cNvPr id="1907847233" name="Google Shape;259;p28"/>
          <p:cNvSpPr txBox="1"/>
          <p:nvPr/>
        </p:nvSpPr>
        <p:spPr bwMode="auto">
          <a:xfrm rot="-5400000">
            <a:off x="7740350" y="3564150"/>
            <a:ext cx="2578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800" b="1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← &lt;/build_future&gt;</a:t>
            </a:r>
            <a:endParaRPr sz="800" b="1">
              <a:solidFill>
                <a:schemeClr val="dk1"/>
              </a:solidFill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148835" name="Google Shape;84;p9"/>
          <p:cNvSpPr txBox="1"/>
          <p:nvPr>
            <p:ph type="title"/>
          </p:nvPr>
        </p:nvSpPr>
        <p:spPr bwMode="auto">
          <a:xfrm>
            <a:off x="720000" y="445024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pPr>
              <a:defRPr/>
            </a:pPr>
            <a:r>
              <a:rPr/>
              <a:t>DATASET</a:t>
            </a:r>
            <a:endParaRPr/>
          </a:p>
        </p:txBody>
      </p:sp>
      <p:sp>
        <p:nvSpPr>
          <p:cNvPr id="22666036" name="Google Shape;85;p9"/>
          <p:cNvSpPr txBox="1"/>
          <p:nvPr>
            <p:ph type="subTitle" idx="2"/>
          </p:nvPr>
        </p:nvSpPr>
        <p:spPr bwMode="auto">
          <a:xfrm flipH="0" flipV="0">
            <a:off x="98651" y="3385062"/>
            <a:ext cx="9354910" cy="991624"/>
          </a:xfrm>
          <a:prstGeom prst="rect">
            <a:avLst/>
          </a:prstGeom>
        </p:spPr>
        <p:txBody>
          <a:bodyPr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20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https://www.kaggle.com/datasets/nelgiriyewithana/mcdonalds-store-reviews</a:t>
            </a:r>
            <a:endParaRPr/>
          </a:p>
        </p:txBody>
      </p:sp>
      <p:pic>
        <p:nvPicPr>
          <p:cNvPr id="250733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52737" y="1802114"/>
            <a:ext cx="3438524" cy="1333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370566" name="Google Shape;35;p4"/>
          <p:cNvSpPr txBox="1"/>
          <p:nvPr>
            <p:ph type="title"/>
          </p:nvPr>
        </p:nvSpPr>
        <p:spPr bwMode="auto">
          <a:xfrm>
            <a:off x="720000" y="445024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/>
              <a:t>PROJECT OVERVIEW</a:t>
            </a:r>
            <a:endParaRPr/>
          </a:p>
        </p:txBody>
      </p:sp>
      <p:sp>
        <p:nvSpPr>
          <p:cNvPr id="1157527351" name="Google Shape;36;p4"/>
          <p:cNvSpPr txBox="1"/>
          <p:nvPr>
            <p:ph type="body" idx="1"/>
          </p:nvPr>
        </p:nvSpPr>
        <p:spPr bwMode="auto">
          <a:xfrm>
            <a:off x="720000" y="1152474"/>
            <a:ext cx="7704000" cy="3416400"/>
          </a:xfrm>
          <a:prstGeom prst="rect">
            <a:avLst/>
          </a:prstGeom>
        </p:spPr>
        <p:txBody>
          <a:bodyPr/>
          <a:lstStyle>
            <a:lvl1pPr marL="457200" lvl="0" indent="-3429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Menganalisis ulasan pelanggan McDonald’s untuk memahami sentimen (positif, negatif, atau netral) dan mengidentifikasi aspek yang paling sering dibahas, seperti:</a:t>
            </a:r>
            <a:endParaRPr sz="1800"/>
          </a:p>
          <a:p>
            <a:pPr marL="114299" indent="0">
              <a:buClr>
                <a:schemeClr val="dk1"/>
              </a:buClr>
              <a:buSzPts val="1800"/>
              <a:buFont typeface="Wingdings"/>
              <a:buNone/>
              <a:defRPr/>
            </a:pP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Kualitas Makanan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Melayani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Kecepatan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Kebersihan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Harga</a:t>
            </a: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 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Suasana</a:t>
            </a:r>
            <a:r>
              <a:rPr sz="1800"/>
              <a:t>	</a:t>
            </a:r>
            <a:endParaRPr lang="en-US" sz="18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210139" name="Google Shape;35;p4"/>
          <p:cNvSpPr txBox="1"/>
          <p:nvPr>
            <p:ph type="title"/>
          </p:nvPr>
        </p:nvSpPr>
        <p:spPr bwMode="auto"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/>
              <a:t>PROJECT OVERVIEW</a:t>
            </a:r>
            <a:br>
              <a:rPr/>
            </a:br>
            <a:endParaRPr/>
          </a:p>
        </p:txBody>
      </p:sp>
      <p:sp>
        <p:nvSpPr>
          <p:cNvPr id="1461450506" name="Google Shape;44;p5"/>
          <p:cNvSpPr txBox="1"/>
          <p:nvPr>
            <p:ph type="subTitle" idx="1"/>
          </p:nvPr>
        </p:nvSpPr>
        <p:spPr bwMode="auto">
          <a:xfrm>
            <a:off x="228602" y="1637325"/>
            <a:ext cx="3941399" cy="431100"/>
          </a:xfrm>
          <a:prstGeom prst="rect">
            <a:avLst/>
          </a:prstGeom>
        </p:spPr>
        <p:txBody>
          <a:bodyPr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9pPr>
          </a:lstStyle>
          <a:p>
            <a:pPr>
              <a:defRPr/>
            </a:pPr>
            <a:r>
              <a:rPr/>
              <a:t>Deskripsi Singkat</a:t>
            </a:r>
            <a:endParaRPr/>
          </a:p>
        </p:txBody>
      </p:sp>
      <p:sp>
        <p:nvSpPr>
          <p:cNvPr id="192188101" name="Google Shape;45;p5"/>
          <p:cNvSpPr txBox="1"/>
          <p:nvPr>
            <p:ph type="subTitle" idx="2"/>
          </p:nvPr>
        </p:nvSpPr>
        <p:spPr bwMode="auto">
          <a:xfrm>
            <a:off x="4646252" y="1561122"/>
            <a:ext cx="3941399" cy="431100"/>
          </a:xfrm>
          <a:prstGeom prst="rect">
            <a:avLst/>
          </a:prstGeom>
        </p:spPr>
        <p:txBody>
          <a:bodyPr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1600" b="1">
                <a:solidFill>
                  <a:schemeClr val="dk2"/>
                </a:solidFill>
                <a:latin typeface="Space Grotesk"/>
                <a:ea typeface="Space Grotesk"/>
                <a:cs typeface="Space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sz="2400" b="1">
                <a:latin typeface="Space Grotesk"/>
                <a:ea typeface="Space Grotesk"/>
                <a:cs typeface="Space Grotesk"/>
              </a:defRPr>
            </a:lvl9pPr>
          </a:lstStyle>
          <a:p>
            <a:pPr>
              <a:defRPr/>
            </a:pPr>
            <a:r>
              <a:rPr/>
              <a:t>Manfaat </a:t>
            </a:r>
            <a:endParaRPr/>
          </a:p>
        </p:txBody>
      </p:sp>
      <p:sp>
        <p:nvSpPr>
          <p:cNvPr id="1711437874" name="Google Shape;46;p5"/>
          <p:cNvSpPr txBox="1"/>
          <p:nvPr>
            <p:ph type="subTitle" idx="3"/>
          </p:nvPr>
        </p:nvSpPr>
        <p:spPr bwMode="auto">
          <a:xfrm flipH="0" flipV="0">
            <a:off x="228602" y="1992222"/>
            <a:ext cx="3941399" cy="1216794"/>
          </a:xfrm>
          <a:prstGeom prst="rect">
            <a:avLst/>
          </a:prstGeom>
        </p:spPr>
        <p:txBody>
          <a:bodyPr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Proyek ini menggunakan AI model IBM Granite Instruct untuk:</a:t>
            </a:r>
            <a:endParaRPr sz="14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79522" indent="-239821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Mengklasifikasikan sentimen setiap review.</a:t>
            </a:r>
            <a:endParaRPr sz="14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79522" indent="-239821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Mengekstraksi aspek utama yang dibahas pelanggan.</a:t>
            </a:r>
            <a:endParaRPr sz="14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79522" indent="-239821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Menyusun ringkasan otomatis dari kumpulan review agar mudah dipahami oleh pihak manajemen</a:t>
            </a:r>
            <a:endParaRPr sz="1400"/>
          </a:p>
        </p:txBody>
      </p:sp>
      <p:sp>
        <p:nvSpPr>
          <p:cNvPr id="2140469105" name="Google Shape;47;p5"/>
          <p:cNvSpPr txBox="1"/>
          <p:nvPr>
            <p:ph type="subTitle" idx="4"/>
          </p:nvPr>
        </p:nvSpPr>
        <p:spPr bwMode="auto">
          <a:xfrm>
            <a:off x="228602" y="3339974"/>
            <a:ext cx="3941399" cy="7388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2646984" name="Google Shape;47;p5"/>
          <p:cNvSpPr txBox="1"/>
          <p:nvPr/>
        </p:nvSpPr>
        <p:spPr bwMode="auto">
          <a:xfrm>
            <a:off x="4798652" y="2220824"/>
            <a:ext cx="3941399" cy="738899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49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marR="0" lvl="1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marR="0" lvl="2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marR="0" lvl="3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marR="0" lvl="4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marR="0" lvl="5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marR="0" lvl="6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marR="0" lvl="7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marR="0" lvl="8" indent="-31749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357492" indent="-217792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Mengetahui persepsi pelanggan terhadap cabang McDonald’s tertentu.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57492" indent="-217792">
              <a:buClr>
                <a:schemeClr val="dk1"/>
              </a:buClr>
              <a:buSzPts val="1400"/>
              <a:buFont typeface="Arial"/>
              <a:buChar char="•"/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57492" indent="-217792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Membantu pengambil keputusan meningkatkan kualitas layanan dan produk.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57492" indent="-217792">
              <a:buClr>
                <a:schemeClr val="dk1"/>
              </a:buClr>
              <a:buSzPts val="1400"/>
              <a:buFont typeface="Arial"/>
              <a:buChar char="•"/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357492" indent="-217792">
              <a:buClr>
                <a:schemeClr val="dk1"/>
              </a:buClr>
              <a:buSzPts val="1400"/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Menghemat waktu analisis manual ribuan review.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492433" name="Google Shape;264;p29"/>
          <p:cNvSpPr txBox="1"/>
          <p:nvPr>
            <p:ph type="title"/>
          </p:nvPr>
        </p:nvSpPr>
        <p:spPr bwMode="auto">
          <a:xfrm>
            <a:off x="228600" y="228600"/>
            <a:ext cx="868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/>
              <a:t>ANALYSIS PROCESS</a:t>
            </a:r>
            <a:endParaRPr/>
          </a:p>
        </p:txBody>
      </p:sp>
      <p:sp>
        <p:nvSpPr>
          <p:cNvPr id="1992345113" name="Google Shape;266;p29"/>
          <p:cNvSpPr/>
          <p:nvPr/>
        </p:nvSpPr>
        <p:spPr bwMode="auto">
          <a:xfrm>
            <a:off x="830325" y="1596625"/>
            <a:ext cx="1371900" cy="40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u="sng">
                <a:solidFill>
                  <a:schemeClr val="lt1"/>
                </a:solidFill>
                <a:latin typeface="Roboto"/>
                <a:ea typeface="Roboto"/>
                <a:cs typeface="Roboto"/>
              </a:rPr>
              <a:t>Data</a:t>
            </a:r>
            <a:endParaRPr sz="1100" b="1" u="sng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03672880" name="Google Shape;267;p29"/>
          <p:cNvSpPr txBox="1"/>
          <p:nvPr/>
        </p:nvSpPr>
        <p:spPr bwMode="auto">
          <a:xfrm>
            <a:off x="497774" y="2097068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  <a:defRPr/>
            </a:pP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Mengambil dataset dari kaggle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468043255" name="Google Shape;269;p2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8106800" y="4953325"/>
            <a:ext cx="861701" cy="1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7714965" name="Google Shape;270;p29"/>
          <p:cNvSpPr/>
          <p:nvPr/>
        </p:nvSpPr>
        <p:spPr bwMode="auto">
          <a:xfrm>
            <a:off x="2867475" y="1596649"/>
            <a:ext cx="1371900" cy="40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u="sng">
                <a:solidFill>
                  <a:schemeClr val="lt1"/>
                </a:solidFill>
                <a:latin typeface="Roboto"/>
                <a:ea typeface="Roboto"/>
                <a:cs typeface="Roboto"/>
              </a:rPr>
              <a:t>Pemprosesan data</a:t>
            </a:r>
            <a:endParaRPr sz="1100" b="1" u="sng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450530758" name="Google Shape;271;p29"/>
          <p:cNvSpPr txBox="1"/>
          <p:nvPr/>
        </p:nvSpPr>
        <p:spPr bwMode="auto">
          <a:xfrm>
            <a:off x="2534925" y="2097068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  <a:defRPr/>
            </a:pP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Cleaning dataset seperti data kosong, emoji, simbol dan lain-lain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37318411" name="Google Shape;272;p29"/>
          <p:cNvSpPr/>
          <p:nvPr/>
        </p:nvSpPr>
        <p:spPr bwMode="auto">
          <a:xfrm>
            <a:off x="4904601" y="1596649"/>
            <a:ext cx="1371900" cy="40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u="sng">
                <a:solidFill>
                  <a:schemeClr val="lt1"/>
                </a:solidFill>
                <a:latin typeface="Roboto"/>
                <a:ea typeface="Roboto"/>
                <a:cs typeface="Roboto"/>
              </a:rPr>
              <a:t>Impementasi IBM Granite</a:t>
            </a:r>
            <a:endParaRPr sz="1100" b="1" u="sng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44917993" name="Google Shape;273;p29"/>
          <p:cNvSpPr txBox="1"/>
          <p:nvPr/>
        </p:nvSpPr>
        <p:spPr bwMode="auto">
          <a:xfrm>
            <a:off x="4572051" y="2097068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  <a:defRPr/>
            </a:pPr>
            <a:r>
              <a:rPr lang="en-US" sz="10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Summarying dan classifying da</a:t>
            </a:r>
            <a:r>
              <a:rPr sz="10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ta mcd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39056842" name="Google Shape;274;p29"/>
          <p:cNvSpPr/>
          <p:nvPr/>
        </p:nvSpPr>
        <p:spPr bwMode="auto">
          <a:xfrm>
            <a:off x="6941774" y="1596649"/>
            <a:ext cx="1371900" cy="40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u="sng">
                <a:solidFill>
                  <a:schemeClr val="lt1"/>
                </a:solidFill>
                <a:latin typeface="Roboto"/>
                <a:ea typeface="Roboto"/>
                <a:cs typeface="Roboto"/>
              </a:rPr>
              <a:t>Batch Execution</a:t>
            </a:r>
            <a:endParaRPr sz="1100" b="1" u="sng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74424419" name="Google Shape;275;p29"/>
          <p:cNvSpPr txBox="1"/>
          <p:nvPr/>
        </p:nvSpPr>
        <p:spPr bwMode="auto">
          <a:xfrm>
            <a:off x="6609225" y="2097068"/>
            <a:ext cx="20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999"/>
              </a:lnSpc>
              <a:spcBef>
                <a:spcPts val="0"/>
              </a:spcBef>
              <a:spcAft>
                <a:spcPts val="1600"/>
              </a:spcAft>
              <a:buNone/>
              <a:defRPr/>
            </a:pPr>
            <a:r>
              <a:rPr lang="en-US" sz="10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Hasil akan disimpan dengan format csv</a:t>
            </a:r>
            <a:endParaRPr sz="10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25272417" name="Google Shape;279;p29"/>
          <p:cNvCxnSpPr/>
          <p:nvPr/>
        </p:nvCxnSpPr>
        <p:spPr bwMode="auto">
          <a:xfrm>
            <a:off x="0" y="30452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1898229" name="Google Shape;301;p29"/>
          <p:cNvCxnSpPr/>
          <p:nvPr/>
        </p:nvCxnSpPr>
        <p:spPr bwMode="auto">
          <a:xfrm>
            <a:off x="0" y="801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76584" name="Google Shape;35;p4"/>
          <p:cNvSpPr txBox="1"/>
          <p:nvPr>
            <p:ph type="title"/>
          </p:nvPr>
        </p:nvSpPr>
        <p:spPr bwMode="auto">
          <a:xfrm>
            <a:off x="720000" y="445024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/>
              <a:t>INSIGHT AND FINDING</a:t>
            </a:r>
            <a:endParaRPr/>
          </a:p>
        </p:txBody>
      </p:sp>
      <p:sp>
        <p:nvSpPr>
          <p:cNvPr id="1142438338" name="Google Shape;36;p4"/>
          <p:cNvSpPr txBox="1"/>
          <p:nvPr>
            <p:ph type="body" idx="1"/>
          </p:nvPr>
        </p:nvSpPr>
        <p:spPr bwMode="auto">
          <a:xfrm>
            <a:off x="720000" y="1152474"/>
            <a:ext cx="7704000" cy="3416400"/>
          </a:xfrm>
          <a:prstGeom prst="rect">
            <a:avLst/>
          </a:prstGeom>
        </p:spPr>
        <p:txBody>
          <a:bodyPr/>
          <a:lstStyle>
            <a:lvl1pPr marL="457200" lvl="0" indent="-3429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cs typeface="Roboto"/>
              </a:rPr>
              <a:t>Hasil dari IBM Granite untuk klasifikasi terhadap data 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McDonald’s Store Review</a:t>
            </a: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cs typeface="Roboto"/>
              </a:rPr>
              <a:t> diantara lain: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Mayoritas review (≈ 67%) bersentimen negatif, didominasi keluhan pada aspek service dan speed.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Sentimen positif muncul hanya pada sebagian kecil review (20%) — umumnya terkait makanan.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Sentimen netral (13%) menunjukkan review yang deskriptif tanpa emosi kuat.</a:t>
            </a:r>
            <a:endParaRPr/>
          </a:p>
        </p:txBody>
      </p:sp>
      <p:sp>
        <p:nvSpPr>
          <p:cNvPr id="1145048613" name="Google Shape;36;p4"/>
          <p:cNvSpPr txBox="1"/>
          <p:nvPr/>
        </p:nvSpPr>
        <p:spPr bwMode="auto">
          <a:xfrm flipH="0" flipV="0">
            <a:off x="3214642" y="4682267"/>
            <a:ext cx="7704000" cy="488446"/>
          </a:xfrm>
          <a:prstGeom prst="rect">
            <a:avLst/>
          </a:prstGeom>
        </p:spPr>
        <p:txBody>
          <a:bodyPr spcFirstLastPara="1"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arker Grotesque SemiBold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marR="0" lvl="1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marR="0" lvl="2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marR="0" lvl="3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marR="0" lvl="4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marR="0" lvl="5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marR="0" lvl="6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marR="0" lvl="7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marR="0" lvl="8" indent="-317499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SemiBold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r>
              <a:rPr/>
              <a:t>Note: IBM Granite hanya menghasilkan output 5 data saja(FREE soalnya)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293245" name="Google Shape;35;p4"/>
          <p:cNvSpPr txBox="1"/>
          <p:nvPr>
            <p:ph type="title"/>
          </p:nvPr>
        </p:nvSpPr>
        <p:spPr bwMode="auto">
          <a:xfrm>
            <a:off x="771071" y="320292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 lang="en-US" sz="2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VISUALIZATION</a:t>
            </a:r>
            <a:endParaRPr/>
          </a:p>
        </p:txBody>
      </p:sp>
      <p:pic>
        <p:nvPicPr>
          <p:cNvPr id="10836361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27767" y="827767"/>
            <a:ext cx="7715250" cy="4354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92139" name="Google Shape;35;p4"/>
          <p:cNvSpPr txBox="1"/>
          <p:nvPr>
            <p:ph type="title"/>
          </p:nvPr>
        </p:nvSpPr>
        <p:spPr bwMode="auto">
          <a:xfrm>
            <a:off x="771071" y="320292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 lang="en-US" sz="2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VISUALIZATION</a:t>
            </a:r>
            <a:endParaRPr/>
          </a:p>
        </p:txBody>
      </p:sp>
      <p:pic>
        <p:nvPicPr>
          <p:cNvPr id="13711460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59821" y="892992"/>
            <a:ext cx="7715250" cy="4266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5003" name="Google Shape;35;p4"/>
          <p:cNvSpPr txBox="1"/>
          <p:nvPr>
            <p:ph type="title"/>
          </p:nvPr>
        </p:nvSpPr>
        <p:spPr bwMode="auto">
          <a:xfrm>
            <a:off x="771071" y="320292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 lang="en-US" sz="2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</a:rPr>
              <a:t>VISUALIZATION</a:t>
            </a:r>
            <a:endParaRPr/>
          </a:p>
        </p:txBody>
      </p:sp>
      <p:pic>
        <p:nvPicPr>
          <p:cNvPr id="18816532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4553" y="756921"/>
            <a:ext cx="7715250" cy="4580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062821" name="Google Shape;35;p4"/>
          <p:cNvSpPr txBox="1"/>
          <p:nvPr>
            <p:ph type="title"/>
          </p:nvPr>
        </p:nvSpPr>
        <p:spPr bwMode="auto">
          <a:xfrm>
            <a:off x="720000" y="445024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/>
              <a:t>CONCLUSION</a:t>
            </a:r>
            <a:endParaRPr/>
          </a:p>
        </p:txBody>
      </p:sp>
      <p:sp>
        <p:nvSpPr>
          <p:cNvPr id="1311201537" name="Google Shape;36;p4"/>
          <p:cNvSpPr txBox="1"/>
          <p:nvPr>
            <p:ph type="body" idx="1"/>
          </p:nvPr>
        </p:nvSpPr>
        <p:spPr bwMode="auto">
          <a:xfrm>
            <a:off x="720000" y="1152474"/>
            <a:ext cx="7704000" cy="3416400"/>
          </a:xfrm>
          <a:prstGeom prst="rect">
            <a:avLst/>
          </a:prstGeom>
        </p:spPr>
        <p:txBody>
          <a:bodyPr/>
          <a:lstStyle>
            <a:lvl1pPr marL="457200" lvl="0" indent="-3429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Sebagian besar pelanggan memberikan sentimen negatif terhadap pengalaman mereka di McDonald’s.</a:t>
            </a:r>
            <a:endParaRPr sz="20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buClr>
                <a:schemeClr val="dk1"/>
              </a:buClr>
              <a:buSzPts val="1800"/>
              <a:buFont typeface="Arial"/>
              <a:buChar char="•"/>
              <a:defRPr/>
            </a:pPr>
            <a:endParaRPr sz="20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Aspek yang paling sering dikeluhkan adalah kecepatan pelayanan (speed) dan sikap staf (service).</a:t>
            </a:r>
            <a:endParaRPr sz="20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buClr>
                <a:schemeClr val="dk1"/>
              </a:buClr>
              <a:buSzPts val="1800"/>
              <a:buFont typeface="Arial"/>
              <a:buChar char="•"/>
              <a:defRPr/>
            </a:pPr>
            <a:endParaRPr sz="20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Beberapa ulasan positif menyoroti kualitas makanan dan kebersihan tempat sebagai hal yang memuaskan.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166306" name="Google Shape;35;p4"/>
          <p:cNvSpPr txBox="1"/>
          <p:nvPr>
            <p:ph type="title"/>
          </p:nvPr>
        </p:nvSpPr>
        <p:spPr bwMode="auto">
          <a:xfrm>
            <a:off x="720000" y="445024"/>
            <a:ext cx="7704000" cy="572699"/>
          </a:xfrm>
          <a:prstGeom prst="rect">
            <a:avLst/>
          </a:prstGeom>
          <a:ln>
            <a:noFill/>
          </a:ln>
        </p:spPr>
        <p:txBody>
          <a:bodyPr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>
              <a:defRPr/>
            </a:pPr>
            <a:r>
              <a:rPr/>
              <a:t>AI SUPPORT EXPLANATION</a:t>
            </a:r>
            <a:endParaRPr/>
          </a:p>
        </p:txBody>
      </p:sp>
      <p:sp>
        <p:nvSpPr>
          <p:cNvPr id="743319837" name="Google Shape;36;p4"/>
          <p:cNvSpPr txBox="1"/>
          <p:nvPr>
            <p:ph type="body" idx="1"/>
          </p:nvPr>
        </p:nvSpPr>
        <p:spPr bwMode="auto">
          <a:xfrm>
            <a:off x="720000" y="1152474"/>
            <a:ext cx="7704000" cy="3416400"/>
          </a:xfrm>
          <a:prstGeom prst="rect">
            <a:avLst/>
          </a:prstGeom>
        </p:spPr>
        <p:txBody>
          <a:bodyPr/>
          <a:lstStyle>
            <a:lvl1pPr marL="457200" lvl="0" indent="-3429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499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Analisis ini didukung oleh model IBM Granite 3.3 8B Instruct melalui platform Replicate.</a:t>
            </a: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Peran AI dalam proyek ini mencakup:</a:t>
            </a: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Text Cleaning: membantu menormalisasi teks agar siap dianalisis.</a:t>
            </a: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Aspect-based Classification: AI mengidentifikasi aspek utama dalam setiap review (misalnya food, service, speed).</a:t>
            </a: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Sentiment Analysis: AI menentukan nada emosi (positif, negatif, atau netral) dari setiap ulasan.</a:t>
            </a:r>
            <a:endParaRPr sz="16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en-US" sz="1600" b="0" i="0" u="none" strike="noStrike" cap="none" spc="0">
                <a:solidFill>
                  <a:schemeClr val="dk1"/>
                </a:solidFill>
                <a:latin typeface="Roboto"/>
                <a:ea typeface="Roboto"/>
                <a:cs typeface="Roboto"/>
              </a:rPr>
              <a:t>Summarization: AI membuat ringkasan singkat dari opini pelanggan untuk memudahkan interpretasi.</a:t>
            </a: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Roboto"/>
              <a:cs typeface="Roboto"/>
            </a:endParaRPr>
          </a:p>
          <a:p>
            <a:pPr marL="114299" indent="0">
              <a:buClr>
                <a:schemeClr val="dk1"/>
              </a:buClr>
              <a:buSzPts val="1800"/>
              <a:buFont typeface="Darker Grotesque SemiBold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